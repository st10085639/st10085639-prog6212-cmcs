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0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github.com/ST10085639/ST10085639-PROG6212-CMC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github.com/ST10085639/ST10085639-PROG6212-CMC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fundamentals/error-handling?view=aspnetcore-9.0" TargetMode="External"/><Relationship Id="rId2" Type="http://schemas.openxmlformats.org/officeDocument/2006/relationships/hyperlink" Target="https://learn.microsoft.com/en-us/aspnet/core/mvc/controllers/actions?view=aspnetcore-9.0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tutorialsteacher.com/core/aspnet-core-mvc" TargetMode="External"/><Relationship Id="rId5" Type="http://schemas.openxmlformats.org/officeDocument/2006/relationships/hyperlink" Target="https://learn.microsoft.com/en-us/aspnet/core/fundamentals/routing?view=aspnetcore-9.0" TargetMode="External"/><Relationship Id="rId4" Type="http://schemas.openxmlformats.org/officeDocument/2006/relationships/hyperlink" Target="https://learn.microsoft.com/en-us/aspnet/core/fundamentals/dependency-injection?view=aspnetcore-9.0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mvc/models/file-uploads" TargetMode="External"/><Relationship Id="rId2" Type="http://schemas.openxmlformats.org/officeDocument/2006/relationships/hyperlink" Target="https://learn.microsoft.com/en-us/aspnet/core/mvc/models/model-binding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tutorialsteacher.com/core/aspnet-core-crud" TargetMode="External"/><Relationship Id="rId5" Type="http://schemas.openxmlformats.org/officeDocument/2006/relationships/hyperlink" Target="https://learn.microsoft.com/en-us/aspnet/core/security/authorization/roles" TargetMode="External"/><Relationship Id="rId4" Type="http://schemas.openxmlformats.org/officeDocument/2006/relationships/hyperlink" Target="https://learn.microsoft.com/en-us/ef/core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fundamentals/app-state" TargetMode="External"/><Relationship Id="rId2" Type="http://schemas.openxmlformats.org/officeDocument/2006/relationships/hyperlink" Target="https://learn.microsoft.com/en-us/aspnet/core/security/authentication/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tutorialsteacher.com/core/aspnet-core-authentication" TargetMode="External"/><Relationship Id="rId5" Type="http://schemas.openxmlformats.org/officeDocument/2006/relationships/hyperlink" Target="https://learn.microsoft.com/en-us/aspnet/core/mvc/views/overview" TargetMode="External"/><Relationship Id="rId4" Type="http://schemas.openxmlformats.org/officeDocument/2006/relationships/hyperlink" Target="https://learn.microsoft.com/en-us/aspnet/core/mvc/models/validation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mvc/overview/older-versions-1/overview/understanding-models-views-and-controllers-cs" TargetMode="External"/><Relationship Id="rId2" Type="http://schemas.openxmlformats.org/officeDocument/2006/relationships/hyperlink" Target="https://learn.microsoft.com/en-us/aspnet/mvc/overview/older-versions-1/controllers-and-routing/aspnet-mvc-controllers-overview-cs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learn.microsoft.com/en-us/aspnet/core/tutorials/first-mvc-app/controller-methods-views?view=aspnetcore-9.0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ef/core/modeling/" TargetMode="External"/><Relationship Id="rId2" Type="http://schemas.openxmlformats.org/officeDocument/2006/relationships/hyperlink" Target="https://learn.microsoft.com/en-us/ef/core/dbcontext-configuration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tutorialsteacher.com/core/aspnet-core-ef-core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fundamentals/routing" TargetMode="External"/><Relationship Id="rId2" Type="http://schemas.openxmlformats.org/officeDocument/2006/relationships/hyperlink" Target="https://learn.microsoft.com/en-us/aspnet/core/fundamentals/startup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learn.microsoft.com/en-us/aspnet/core/fundamentals/app-state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pi/system.datetime" TargetMode="External"/><Relationship Id="rId2" Type="http://schemas.openxmlformats.org/officeDocument/2006/relationships/hyperlink" Target="https://learn.microsoft.com/en-us/aspnet/core/mvc/models/validation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learn.microsoft.com/en-us/dotnet/csharp/programming-guide/classes-and-structs/properties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standard/base-types/regular-expression-language-quick-reference" TargetMode="External"/><Relationship Id="rId2" Type="http://schemas.openxmlformats.org/officeDocument/2006/relationships/hyperlink" Target="https://learn.microsoft.com/en-us/aspnet/core/mvc/models/validation?view=aspnetcore-9.0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learn.microsoft.com/en-us/aspnet/core/security/authentication/identity" TargetMode="External"/><Relationship Id="rId4" Type="http://schemas.openxmlformats.org/officeDocument/2006/relationships/hyperlink" Target="https://www.tutorialsteacher.com/core/aspnet-core-model-validation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css/css3_buttons.asp" TargetMode="External"/><Relationship Id="rId13" Type="http://schemas.openxmlformats.org/officeDocument/2006/relationships/hyperlink" Target="https://learn.microsoft.com/aspnet/core/mvc/views" TargetMode="External"/><Relationship Id="rId3" Type="http://schemas.openxmlformats.org/officeDocument/2006/relationships/hyperlink" Target="https://www.w3schools.com/css/" TargetMode="External"/><Relationship Id="rId7" Type="http://schemas.openxmlformats.org/officeDocument/2006/relationships/hyperlink" Target="https://learn.microsoft.com/en-us/aspnet/core/fundamentals/error-handling?view=aspnetcore-9.0" TargetMode="External"/><Relationship Id="rId12" Type="http://schemas.openxmlformats.org/officeDocument/2006/relationships/hyperlink" Target="https://learn.microsoft.com/dotnet/api/system.globalization.cultureinfo" TargetMode="External"/><Relationship Id="rId2" Type="http://schemas.openxmlformats.org/officeDocument/2006/relationships/hyperlink" Target="https://learn.microsoft.com/en-us/aspnet/core/razor-pages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fontawesome.com/" TargetMode="External"/><Relationship Id="rId11" Type="http://schemas.openxmlformats.org/officeDocument/2006/relationships/hyperlink" Target="https://learn.microsoft.com/aspnet/core/mvc/controllers/routing" TargetMode="External"/><Relationship Id="rId5" Type="http://schemas.openxmlformats.org/officeDocument/2006/relationships/hyperlink" Target="https://developer.mozilla.org/en-US/docs/Web/API/HTMLInputElement/type" TargetMode="External"/><Relationship Id="rId10" Type="http://schemas.openxmlformats.org/officeDocument/2006/relationships/hyperlink" Target="https://learn.microsoft.com/dotnet/standard/base-types/standard-numeric-format-strings" TargetMode="External"/><Relationship Id="rId4" Type="http://schemas.openxmlformats.org/officeDocument/2006/relationships/hyperlink" Target="https://developer.mozilla.org/en-US/docs/Web/HTML/Element/input" TargetMode="External"/><Relationship Id="rId9" Type="http://schemas.openxmlformats.org/officeDocument/2006/relationships/hyperlink" Target="https://www.w3schools.com/howto/howto_css_cards.asp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ef/core/testing/in-memory" TargetMode="External"/><Relationship Id="rId2" Type="http://schemas.openxmlformats.org/officeDocument/2006/relationships/hyperlink" Target="https://learn.microsoft.com/en-us/aspnet/core/mvc/controllers/testing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learn.microsoft.com/en-us/dotnet/core/testing/unit-testing-with-mstest" TargetMode="External"/><Relationship Id="rId4" Type="http://schemas.openxmlformats.org/officeDocument/2006/relationships/hyperlink" Target="https://www.packtpub.com/en-us/product/mastering-unit-testing-in-net-6-978180324176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3AD41DB-DF9F-49BC-85AE-6AB1840A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E66B949-6B41-CB2C-2EFC-C33E61D1F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 err="1">
                <a:solidFill>
                  <a:schemeClr val="bg1"/>
                </a:solidFill>
              </a:rPr>
              <a:t>Raeez</a:t>
            </a:r>
            <a:r>
              <a:rPr lang="en-US" sz="3500" dirty="0">
                <a:solidFill>
                  <a:schemeClr val="bg1"/>
                </a:solidFill>
              </a:rPr>
              <a:t> Spence</a:t>
            </a:r>
            <a:br>
              <a:rPr lang="en-US" sz="3500" dirty="0">
                <a:solidFill>
                  <a:schemeClr val="bg1"/>
                </a:solidFill>
              </a:rPr>
            </a:br>
            <a:r>
              <a:rPr lang="en-ZA" dirty="0">
                <a:solidFill>
                  <a:schemeClr val="bg1"/>
                </a:solidFill>
              </a:rPr>
              <a:t>Student Number: ST10085639</a:t>
            </a:r>
            <a:br>
              <a:rPr lang="en-ZA" dirty="0"/>
            </a:br>
            <a:endParaRPr lang="en-US" sz="3500" dirty="0">
              <a:solidFill>
                <a:schemeClr val="bg1"/>
              </a:solidFill>
            </a:endParaRPr>
          </a:p>
        </p:txBody>
      </p:sp>
      <p:pic>
        <p:nvPicPr>
          <p:cNvPr id="10" name="Picture Placeholder 9" descr="Illuminated technology network on a dark background">
            <a:extLst>
              <a:ext uri="{FF2B5EF4-FFF2-40B4-BE49-F238E27FC236}">
                <a16:creationId xmlns:a16="http://schemas.microsoft.com/office/drawing/2014/main" id="{CC1D85E3-8DF3-9AE1-8E24-1070A60D9ED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1263" b="11263"/>
          <a:stretch/>
        </p:blipFill>
        <p:spPr>
          <a:xfrm>
            <a:off x="20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A4AE1828-51FD-4AD7-BCF6-9AF5C696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542C7CD-02BE-4ADE-8D2F-DFB759D71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40A04EE-8E37-4C28-B09B-A9593A4AA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D113BA-2347-9370-4E92-1E69D4DB9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45769" y="4325144"/>
            <a:ext cx="4269581" cy="2223140"/>
          </a:xfrm>
        </p:spPr>
        <p:txBody>
          <a:bodyPr vert="horz" lIns="91440" tIns="45720" rIns="91440" bIns="45720" rtlCol="0">
            <a:noAutofit/>
          </a:bodyPr>
          <a:lstStyle/>
          <a:p>
            <a:pPr algn="r"/>
            <a:r>
              <a:rPr lang="en-ZA" b="1" dirty="0">
                <a:solidFill>
                  <a:schemeClr val="bg1"/>
                </a:solidFill>
              </a:rPr>
              <a:t>PROGRAMMING 2B PART 3</a:t>
            </a:r>
          </a:p>
          <a:p>
            <a:pPr algn="r"/>
            <a:r>
              <a:rPr lang="en-ZA" b="1" dirty="0">
                <a:solidFill>
                  <a:schemeClr val="bg1"/>
                </a:solidFill>
              </a:rPr>
              <a:t>Programme Code:</a:t>
            </a:r>
            <a:br>
              <a:rPr lang="en-ZA" dirty="0">
                <a:solidFill>
                  <a:schemeClr val="bg1"/>
                </a:solidFill>
              </a:rPr>
            </a:br>
            <a:r>
              <a:rPr lang="en-ZA" dirty="0">
                <a:solidFill>
                  <a:schemeClr val="bg1"/>
                </a:solidFill>
              </a:rPr>
              <a:t>BCAD2</a:t>
            </a:r>
          </a:p>
          <a:p>
            <a:pPr algn="r"/>
            <a:r>
              <a:rPr lang="en-ZA" b="1" dirty="0">
                <a:solidFill>
                  <a:schemeClr val="bg1"/>
                </a:solidFill>
              </a:rPr>
              <a:t>Module Lecturer:</a:t>
            </a:r>
            <a:br>
              <a:rPr lang="en-ZA" dirty="0">
                <a:solidFill>
                  <a:schemeClr val="bg1"/>
                </a:solidFill>
              </a:rPr>
            </a:br>
            <a:r>
              <a:rPr lang="en-ZA" dirty="0">
                <a:solidFill>
                  <a:schemeClr val="bg1"/>
                </a:solidFill>
              </a:rPr>
              <a:t>Courteney Young</a:t>
            </a:r>
          </a:p>
          <a:p>
            <a:pPr algn="r"/>
            <a:r>
              <a:rPr lang="en-ZA" b="1" dirty="0">
                <a:solidFill>
                  <a:schemeClr val="bg1"/>
                </a:solidFill>
              </a:rPr>
              <a:t>Module Code:</a:t>
            </a:r>
            <a:br>
              <a:rPr lang="en-ZA" dirty="0">
                <a:solidFill>
                  <a:schemeClr val="bg1"/>
                </a:solidFill>
              </a:rPr>
            </a:br>
            <a:r>
              <a:rPr lang="en-ZA" dirty="0">
                <a:solidFill>
                  <a:schemeClr val="bg1"/>
                </a:solidFill>
              </a:rPr>
              <a:t>PROG6212</a:t>
            </a:r>
          </a:p>
          <a:p>
            <a:pPr algn="r"/>
            <a:r>
              <a:rPr lang="en-ZA" b="1" dirty="0">
                <a:solidFill>
                  <a:schemeClr val="bg1"/>
                </a:solidFill>
              </a:rPr>
              <a:t>Date of Submission:</a:t>
            </a:r>
            <a:br>
              <a:rPr lang="en-ZA" dirty="0">
                <a:solidFill>
                  <a:schemeClr val="bg1"/>
                </a:solidFill>
              </a:rPr>
            </a:br>
            <a:r>
              <a:rPr lang="en-ZA" dirty="0">
                <a:solidFill>
                  <a:schemeClr val="bg1"/>
                </a:solidFill>
              </a:rPr>
              <a:t>21-11-2025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A7183-6E39-D4EC-C6A1-8CB597C16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9B7B691-8326-064B-1576-8031C2B54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DFDA68-70FD-C559-DA8E-1842C73D2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Home Page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E8E48C2C-10FF-0190-F62E-FB901D26670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b="4221"/>
          <a:stretch>
            <a:fillRect/>
          </a:stretch>
        </p:blipFill>
        <p:spPr>
          <a:xfrm>
            <a:off x="20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E1CFABB-45D8-73F2-68FD-D36E13D04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6915B45-5F7A-B129-801E-CF6460366B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509589D-8E88-7561-B16E-110883BE5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B13AC8-8996-D76B-B613-C2B375970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45769" y="4325144"/>
            <a:ext cx="4269581" cy="2223140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Purpose:</a:t>
            </a:r>
            <a:r>
              <a:rPr lang="en-ZA" dirty="0">
                <a:solidFill>
                  <a:schemeClr val="bg1"/>
                </a:solidFill>
              </a:rPr>
              <a:t> Serves as the landing page after login, welcoming users to the Claims Management and Control System (CMCS).</a:t>
            </a:r>
          </a:p>
          <a:p>
            <a:r>
              <a:rPr lang="en-ZA" b="1" dirty="0">
                <a:solidFill>
                  <a:schemeClr val="bg1"/>
                </a:solidFill>
              </a:rPr>
              <a:t>Functions:</a:t>
            </a:r>
            <a:endParaRPr lang="en-ZA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Provides navigation to all major sections (Submit Claims, Claim History, Admin Dashboard, HR Dashboard).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Displays general announcements or system updates.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Sign-Up &amp; Login buttons.</a:t>
            </a:r>
          </a:p>
        </p:txBody>
      </p:sp>
    </p:spTree>
    <p:extLst>
      <p:ext uri="{BB962C8B-B14F-4D97-AF65-F5344CB8AC3E}">
        <p14:creationId xmlns:p14="http://schemas.microsoft.com/office/powerpoint/2010/main" val="2334617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F0E8E-85FB-8A5F-5D56-9AA6A0960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8BD2D31-D86C-AE54-B894-F7A0CC35B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015E512-038D-AAB5-5F7A-B47C3AD6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Sign-Up Page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3453FB-F62D-7B9B-4E20-DA1656D86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F3C7759-44CD-5231-F551-A903821B2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AB357CA-845A-0493-7516-32C6CDC40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7B12A5-B0A1-C076-37CC-AA560706D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6669" y="4145258"/>
            <a:ext cx="4269581" cy="2712742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ZA" sz="1200" b="1" dirty="0">
                <a:solidFill>
                  <a:schemeClr val="bg1"/>
                </a:solidFill>
              </a:rPr>
              <a:t>Purpose:</a:t>
            </a:r>
            <a:r>
              <a:rPr lang="en-ZA" sz="1200" dirty="0">
                <a:solidFill>
                  <a:schemeClr val="bg1"/>
                </a:solidFill>
              </a:rPr>
              <a:t> Enables new users to register for a CMCS account by submitting their details and selecting their role.</a:t>
            </a:r>
          </a:p>
          <a:p>
            <a:r>
              <a:rPr lang="en-ZA" sz="1200" b="1" dirty="0">
                <a:solidFill>
                  <a:schemeClr val="bg1"/>
                </a:solidFill>
              </a:rPr>
              <a:t>Functions:</a:t>
            </a:r>
            <a:endParaRPr lang="en-ZA" sz="12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sz="1200" b="1" dirty="0">
                <a:solidFill>
                  <a:schemeClr val="bg1"/>
                </a:solidFill>
              </a:rPr>
              <a:t>Input Fields:</a:t>
            </a:r>
            <a:r>
              <a:rPr lang="en-ZA" sz="1200" dirty="0">
                <a:solidFill>
                  <a:schemeClr val="bg1"/>
                </a:solidFill>
              </a:rPr>
              <a:t> Collects user information including first name, last name, email address, password, and confirmation password.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sz="1200" b="1" dirty="0">
                <a:solidFill>
                  <a:schemeClr val="bg1"/>
                </a:solidFill>
              </a:rPr>
              <a:t>Role Selection:</a:t>
            </a:r>
            <a:r>
              <a:rPr lang="en-ZA" sz="1200" dirty="0">
                <a:solidFill>
                  <a:schemeClr val="bg1"/>
                </a:solidFill>
              </a:rPr>
              <a:t> Allows users to choose their system role (e.g., Academic Manager, Program Coordinator, Lecturer, HR).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sz="1200" b="1" dirty="0">
                <a:solidFill>
                  <a:schemeClr val="bg1"/>
                </a:solidFill>
              </a:rPr>
              <a:t>Sign-Up Button:</a:t>
            </a:r>
            <a:r>
              <a:rPr lang="en-ZA" sz="1200" dirty="0">
                <a:solidFill>
                  <a:schemeClr val="bg1"/>
                </a:solidFill>
              </a:rPr>
              <a:t> Submits the registration form to create a new account in the system.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sz="1200" b="1" dirty="0">
                <a:solidFill>
                  <a:schemeClr val="bg1"/>
                </a:solidFill>
              </a:rPr>
              <a:t>Login Redirect:</a:t>
            </a:r>
            <a:r>
              <a:rPr lang="en-ZA" sz="1200" dirty="0">
                <a:solidFill>
                  <a:schemeClr val="bg1"/>
                </a:solidFill>
              </a:rPr>
              <a:t> Provides a link for users who already have an account.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sz="1200" b="1" dirty="0">
                <a:solidFill>
                  <a:schemeClr val="bg1"/>
                </a:solidFill>
              </a:rPr>
              <a:t>Navigation Bar:</a:t>
            </a:r>
            <a:r>
              <a:rPr lang="en-ZA" sz="1200" dirty="0">
                <a:solidFill>
                  <a:schemeClr val="bg1"/>
                </a:solidFill>
              </a:rPr>
              <a:t> Maintains a consistent design and allows smooth navigation across the CMCS platform.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11BF12D-DEFE-F6FD-B476-8EC62267216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840" b="1840"/>
          <a:stretch/>
        </p:blipFill>
        <p:spPr>
          <a:xfrm>
            <a:off x="24512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6233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B7DC4-709B-8426-8E87-BD0155B72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CE789EE-D7FB-550A-AE42-A91772013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2EE8D11-754C-9A08-54AC-15D76E6F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Login Page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7F74CB6-C551-3D7B-E095-F5708C8BD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A749B96-1941-7F80-1F20-074F827A5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31A9211-5719-97CB-058A-8BE778943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2BBA88-5359-0D6C-E339-B03F34737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62889" y="4391296"/>
            <a:ext cx="4269581" cy="2328924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ZA" sz="1200" b="1" dirty="0">
                <a:solidFill>
                  <a:schemeClr val="bg1"/>
                </a:solidFill>
              </a:rPr>
              <a:t>Purpose:</a:t>
            </a:r>
            <a:r>
              <a:rPr lang="en-ZA" sz="1200" dirty="0">
                <a:solidFill>
                  <a:schemeClr val="bg1"/>
                </a:solidFill>
              </a:rPr>
              <a:t> Allows registered users to securely access their CMCS account by verifying their credentials.</a:t>
            </a:r>
          </a:p>
          <a:p>
            <a:r>
              <a:rPr lang="en-ZA" sz="1200" b="1" dirty="0">
                <a:solidFill>
                  <a:schemeClr val="bg1"/>
                </a:solidFill>
              </a:rPr>
              <a:t>Functions:</a:t>
            </a:r>
            <a:endParaRPr lang="en-ZA" sz="1200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sz="1200" b="1" dirty="0">
                <a:solidFill>
                  <a:schemeClr val="bg1"/>
                </a:solidFill>
              </a:rPr>
              <a:t>Email &amp; Password Fields:</a:t>
            </a:r>
            <a:r>
              <a:rPr lang="en-ZA" sz="1200" dirty="0">
                <a:solidFill>
                  <a:schemeClr val="bg1"/>
                </a:solidFill>
              </a:rPr>
              <a:t> Users enter their registered credentials (passwords are masked for security).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sz="1200" b="1" dirty="0">
                <a:solidFill>
                  <a:schemeClr val="bg1"/>
                </a:solidFill>
              </a:rPr>
              <a:t>Login Button:</a:t>
            </a:r>
            <a:r>
              <a:rPr lang="en-ZA" sz="1200" dirty="0">
                <a:solidFill>
                  <a:schemeClr val="bg1"/>
                </a:solidFill>
              </a:rPr>
              <a:t> Authenticates credentials and redirects users to the appropriate dashboard or homepage.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sz="1200" b="1" dirty="0">
                <a:solidFill>
                  <a:schemeClr val="bg1"/>
                </a:solidFill>
              </a:rPr>
              <a:t>Sign-Up Link:</a:t>
            </a:r>
            <a:r>
              <a:rPr lang="en-ZA" sz="1200" dirty="0">
                <a:solidFill>
                  <a:schemeClr val="bg1"/>
                </a:solidFill>
              </a:rPr>
              <a:t> Directs new users to the registration page.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sz="1200" b="1" dirty="0">
                <a:solidFill>
                  <a:schemeClr val="bg1"/>
                </a:solidFill>
              </a:rPr>
              <a:t>Navigation Bar:</a:t>
            </a:r>
            <a:r>
              <a:rPr lang="en-ZA" sz="1200" dirty="0">
                <a:solidFill>
                  <a:schemeClr val="bg1"/>
                </a:solidFill>
              </a:rPr>
              <a:t> Provides quick access to other pages (Home, Submit Claims, Claim History, etc.) and shows a Logout button once logged in.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C1137F7-068C-EFFF-9D0C-2B5C139D3C5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2233" b="2233"/>
          <a:stretch/>
        </p:blipFill>
        <p:spPr>
          <a:xfrm>
            <a:off x="24512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24315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9606C6-BC21-0635-573F-B9D51230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5BC6937-CED8-6EFC-C785-108A6C0A3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480578C-85EB-6D84-CAB5-AE2C1AAD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Submit Claims Page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40D2374-593E-0189-73A3-7FF2C3704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6865E0A-C580-2497-532B-08C502312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F8BC295-DE0B-D9F8-25EF-AD1954A19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7F690B-15DE-5943-185E-66385AE99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8129" y="4398916"/>
            <a:ext cx="4269581" cy="2328924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ZA" sz="1200" b="1" dirty="0">
                <a:solidFill>
                  <a:schemeClr val="bg1"/>
                </a:solidFill>
              </a:rPr>
              <a:t>Purpose:</a:t>
            </a:r>
            <a:r>
              <a:rPr lang="en-ZA" sz="1200" dirty="0">
                <a:solidFill>
                  <a:schemeClr val="bg1"/>
                </a:solidFill>
              </a:rPr>
              <a:t> Allows users to submit new claim requests. Only Lecturers can access. (Lecturers get redirected here once logged in.)</a:t>
            </a:r>
          </a:p>
          <a:p>
            <a:r>
              <a:rPr lang="en-ZA" sz="1200" b="1" dirty="0">
                <a:solidFill>
                  <a:schemeClr val="bg1"/>
                </a:solidFill>
              </a:rPr>
              <a:t>Functions:</a:t>
            </a:r>
            <a:endParaRPr lang="en-ZA" sz="12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sz="1200" dirty="0">
                <a:solidFill>
                  <a:schemeClr val="bg1"/>
                </a:solidFill>
              </a:rPr>
              <a:t>Users can enter claim details such as claim type, amount, and reason.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sz="1200" dirty="0">
                <a:solidFill>
                  <a:schemeClr val="bg1"/>
                </a:solidFill>
              </a:rPr>
              <a:t>Upload supporting documents (PDF, jpg, jpeg or docx).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sz="1200" dirty="0">
                <a:solidFill>
                  <a:schemeClr val="bg1"/>
                </a:solidFill>
              </a:rPr>
              <a:t>Submit button stores the claim in the system database for admin review. Redirects to Claim History Page.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sz="1200" dirty="0">
                <a:solidFill>
                  <a:schemeClr val="bg1"/>
                </a:solidFill>
              </a:rPr>
              <a:t>Clear Fields button clears the form fields.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8C2F68B-8422-CA79-D55B-4CCD892B056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2062" b="2062"/>
          <a:stretch/>
        </p:blipFill>
        <p:spPr>
          <a:xfrm>
            <a:off x="24512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15020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598B6F-E4EB-75CE-681D-35D4A8185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41F1C87-1DE3-432F-9FF5-8291C09AD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06BE4-4A23-F415-FF6F-F88663576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Claim History Page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FDE9EEF-40F7-2E5B-ED1E-68578EB66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8DD8360-989A-88C2-C753-2D63A65B0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8BA7DDD-6675-8C0D-4AA7-8A1E51C55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6DC616-DF9E-69D6-78A4-EDE19AA98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8129" y="4398916"/>
            <a:ext cx="4269581" cy="2328924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Purpose:</a:t>
            </a:r>
            <a:r>
              <a:rPr lang="en-ZA" dirty="0">
                <a:solidFill>
                  <a:schemeClr val="bg1"/>
                </a:solidFill>
              </a:rPr>
              <a:t> Displays a record of all submitted claims by the user. Only Lecturers can access. (Lecturers get redirected here once submitted claim.)</a:t>
            </a:r>
          </a:p>
          <a:p>
            <a:r>
              <a:rPr lang="en-ZA" b="1" dirty="0">
                <a:solidFill>
                  <a:schemeClr val="bg1"/>
                </a:solidFill>
              </a:rPr>
              <a:t>Functions:</a:t>
            </a:r>
            <a:endParaRPr lang="en-ZA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Shows claim details such as claim ID, submission date, claim amount, and current status (Pending, Approved, or Rejected).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Helps users track the progress of each claim over time.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E71D1BB3-4F93-9A5B-FC99-BB4DB1728C2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2860" b="2860"/>
          <a:stretch/>
        </p:blipFill>
        <p:spPr>
          <a:xfrm>
            <a:off x="24512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40948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5E05B-1175-720A-7680-2957F5540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F5C85DA-3218-FE61-9ABF-DAAEA444D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235961-EE3E-C14F-1634-BC808C145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Admin Dashboard</a:t>
            </a:r>
            <a:br>
              <a:rPr lang="en-US" sz="3500" dirty="0">
                <a:solidFill>
                  <a:schemeClr val="bg1"/>
                </a:solidFill>
              </a:rPr>
            </a:br>
            <a:r>
              <a:rPr lang="en-US" sz="3500" dirty="0">
                <a:solidFill>
                  <a:schemeClr val="bg1"/>
                </a:solidFill>
              </a:rPr>
              <a:t>Page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638B45-8916-9732-32FE-C4AFAB061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8BFDB14-E857-9273-7D3B-5910483121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ADC0838-909B-6CF5-7510-AEDBE9E03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594FEA-B648-0943-3DA0-3C400B149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8129" y="4398916"/>
            <a:ext cx="4269581" cy="2328924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Purpose:</a:t>
            </a:r>
            <a:r>
              <a:rPr lang="en-ZA" dirty="0">
                <a:solidFill>
                  <a:schemeClr val="bg1"/>
                </a:solidFill>
              </a:rPr>
              <a:t> Provides administrative tools for managing and reviewing claims. Only Admin can access. (Prog-Coordinator &amp; Academic Manager get redirected here once logged in.)</a:t>
            </a:r>
          </a:p>
          <a:p>
            <a:r>
              <a:rPr lang="en-ZA" b="1" dirty="0">
                <a:solidFill>
                  <a:schemeClr val="bg1"/>
                </a:solidFill>
              </a:rPr>
              <a:t>Functions:</a:t>
            </a:r>
            <a:endParaRPr lang="en-ZA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Displays all claims from users with their details.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Admins can update each claim’s status (Approved, Pending, Rejected).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3BDC81D-7B49-1E2C-07D6-7444BEE008A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616" b="1616"/>
          <a:stretch/>
        </p:blipFill>
        <p:spPr>
          <a:xfrm>
            <a:off x="24512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08558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EB6BA-FD7C-662A-BE33-41A17703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1D0F723-BBA9-D4AC-8E7D-1FADD32AA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E476EED-F45E-78ED-AEE4-B2473A738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HR Dashboard</a:t>
            </a:r>
            <a:br>
              <a:rPr lang="en-US" sz="3500" dirty="0">
                <a:solidFill>
                  <a:schemeClr val="bg1"/>
                </a:solidFill>
              </a:rPr>
            </a:br>
            <a:r>
              <a:rPr lang="en-US" sz="3500" dirty="0">
                <a:solidFill>
                  <a:schemeClr val="bg1"/>
                </a:solidFill>
              </a:rPr>
              <a:t>Page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0F2886C-0325-6253-D96D-924D4A47F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0B19E15-4977-EFBC-5F3B-E11150511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BCBA3FB-F2B7-E00D-B0ED-88BE99AEF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4882C1-3F97-2CBB-1B3A-89F26D847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8129" y="4398916"/>
            <a:ext cx="4269581" cy="2328924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Purpose:</a:t>
            </a:r>
            <a:r>
              <a:rPr lang="en-ZA" dirty="0">
                <a:solidFill>
                  <a:schemeClr val="bg1"/>
                </a:solidFill>
              </a:rPr>
              <a:t> Provides HR tools for managing and reviewing claims, providing invoices. Only HR can access. (HR get redirected here once logged in.)</a:t>
            </a:r>
          </a:p>
          <a:p>
            <a:r>
              <a:rPr lang="en-ZA" b="1" dirty="0">
                <a:solidFill>
                  <a:schemeClr val="bg1"/>
                </a:solidFill>
              </a:rPr>
              <a:t>Functions:</a:t>
            </a:r>
            <a:endParaRPr lang="en-ZA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Displays all claims from users with their details.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HR can view and download invoices.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Blue View Invoice button will direct to invoice page.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Green Download button will download invoice.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10A4D1A-6231-34A2-875E-5190F3F59D9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4644" b="4644"/>
          <a:stretch/>
        </p:blipFill>
        <p:spPr>
          <a:xfrm>
            <a:off x="24512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24662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C559D-EA7D-E71F-18AA-AFCC379FF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A48BC-5393-807A-9F75-480F61739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06C32F-B1B6-5036-9612-AFE422FFA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HR Invoice</a:t>
            </a:r>
            <a:br>
              <a:rPr lang="en-US" sz="3500" dirty="0">
                <a:solidFill>
                  <a:schemeClr val="bg1"/>
                </a:solidFill>
              </a:rPr>
            </a:br>
            <a:r>
              <a:rPr lang="en-US" sz="3500" dirty="0">
                <a:solidFill>
                  <a:schemeClr val="bg1"/>
                </a:solidFill>
              </a:rPr>
              <a:t>Page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763F13F-B496-ADBA-F8E4-ABC1EC71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E70A27-C6EF-F6CD-DC86-8E22BACF46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3608E36-3867-C089-C106-579C0C004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E53CB4-84A8-D467-C495-E3FB7EF2F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8129" y="4398916"/>
            <a:ext cx="4269581" cy="2328924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Purpose:</a:t>
            </a:r>
            <a:r>
              <a:rPr lang="en-ZA" dirty="0">
                <a:solidFill>
                  <a:schemeClr val="bg1"/>
                </a:solidFill>
              </a:rPr>
              <a:t> Provides an invoice with claim details to review. Only HR can access. (HR get redirected here once clicking Blue Invoice button on previous page.)</a:t>
            </a:r>
          </a:p>
          <a:p>
            <a:r>
              <a:rPr lang="en-ZA" b="1" dirty="0">
                <a:solidFill>
                  <a:schemeClr val="bg1"/>
                </a:solidFill>
              </a:rPr>
              <a:t>Functions:</a:t>
            </a:r>
            <a:endParaRPr lang="en-ZA" dirty="0">
              <a:solidFill>
                <a:schemeClr val="bg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Displays claim from user with the details of that specific claim.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HR can download invoice.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4067BB2-0E90-730E-5CCD-B7348CEC00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2062" b="2062"/>
          <a:stretch/>
        </p:blipFill>
        <p:spPr>
          <a:xfrm>
            <a:off x="24512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4270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CD034-6FB3-D01D-EF23-49E55EE8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89FDD94-C1C9-099A-9014-0BDD3F2B9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8BD667-7F37-4839-4AA1-CE0B33B2C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HR Invoice PDF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55E7570-9B17-7971-F2B8-AEF363B13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95C8038-4FAF-5FFD-CBE0-00AE82C30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1BC89DB-206E-8B6E-19D2-00EA1F0D8D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5CCE2D-CAED-3F76-79B1-6DF1CF5FF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8129" y="4398916"/>
            <a:ext cx="4269581" cy="2328924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ZA" b="1" dirty="0">
                <a:solidFill>
                  <a:schemeClr val="bg1"/>
                </a:solidFill>
              </a:rPr>
              <a:t>Purpose:</a:t>
            </a:r>
            <a:r>
              <a:rPr lang="en-ZA" dirty="0">
                <a:solidFill>
                  <a:schemeClr val="bg1"/>
                </a:solidFill>
              </a:rPr>
              <a:t> Provides an invoice with claim details to review in PDF. Only HR can access. (HR gets downloaded once clicking Green Download button on previous page or HR Dashboard.)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8B32BDF-BE85-181D-9E42-42337112328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22719" b="22719"/>
          <a:stretch/>
        </p:blipFill>
        <p:spPr>
          <a:xfrm>
            <a:off x="24512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00170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217EE-87C1-1971-32F6-DC019A17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3AD41DB-DF9F-49BC-85AE-6AB1840A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AF057E5-5BFB-0575-0B5D-FF67CC08A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Users SQL Table</a:t>
            </a:r>
          </a:p>
        </p:txBody>
      </p:sp>
      <p:pic>
        <p:nvPicPr>
          <p:cNvPr id="5" name="Picture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1C8729-215C-CEDA-C200-056E529CA42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r="1905" b="2"/>
          <a:stretch>
            <a:fillRect/>
          </a:stretch>
        </p:blipFill>
        <p:spPr>
          <a:xfrm>
            <a:off x="20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A4AE1828-51FD-4AD7-BCF6-9AF5C696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542C7CD-02BE-4ADE-8D2F-DFB759D71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40A04EE-8E37-4C28-B09B-A9593A4AA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E52879-1B52-D4B5-A604-3FC31A570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48150" y="4669978"/>
            <a:ext cx="4269581" cy="117370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chemeClr val="bg1"/>
                </a:solidFill>
              </a:rPr>
              <a:t>Stores credentials, roles, and user details.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657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21399-4A6B-EBAC-B923-6F576B98D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07D2AD6-77C5-F146-B67E-B4FD4F54D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905944-5448-364F-8C4F-256BDF312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Claims SQL Table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B5C0D9C-881F-24B9-BC8B-DE3EE19851B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30" r="430"/>
          <a:stretch/>
        </p:blipFill>
        <p:spPr>
          <a:xfrm>
            <a:off x="20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DFB4E396-5ED8-4F9D-78A1-B1B1FB950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397EBE-D85A-8CBD-4F23-7B1465ACC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419EFD-8368-82BE-ADA4-819EBF628C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042727-A134-DB4B-73D8-88B7B9839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48150" y="4669978"/>
            <a:ext cx="4269581" cy="117370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chemeClr val="bg1"/>
                </a:solidFill>
              </a:rPr>
              <a:t>Tracks claims with details such as submission date, hours worked, and approval status.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09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D0F8A1-7A1E-1B4A-7B7D-480B4A5BD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6C23408-87BA-91BC-AC9A-E70088CD2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31B7D2A-8AF3-F714-E8E7-FF76DAB9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Unit Testing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938E1DFD-3C9B-DCBC-451F-18DFB01028B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6858" b="6858"/>
          <a:stretch/>
        </p:blipFill>
        <p:spPr>
          <a:xfrm>
            <a:off x="20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1CC6D0E0-CB94-7F5A-F2AE-DD640689B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54B9F32-5FB1-C884-3500-A33AF6172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B503198-179D-30C1-E6EF-12C2C0F629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CB30B1-E447-A55F-9671-8372686C7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48150" y="4669978"/>
            <a:ext cx="4269581" cy="1456502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The project includes a </a:t>
            </a:r>
            <a:r>
              <a:rPr lang="en-ZA" b="1" dirty="0">
                <a:solidFill>
                  <a:schemeClr val="bg1"/>
                </a:solidFill>
              </a:rPr>
              <a:t>unit test project (ST10085639_PROG6212_CMCS.Tests)</a:t>
            </a:r>
            <a:r>
              <a:rPr lang="en-ZA" dirty="0">
                <a:solidFill>
                  <a:schemeClr val="bg1"/>
                </a:solidFill>
              </a:rPr>
              <a:t>.</a:t>
            </a:r>
            <a:br>
              <a:rPr lang="en-ZA" dirty="0">
                <a:solidFill>
                  <a:schemeClr val="bg1"/>
                </a:solidFill>
              </a:rPr>
            </a:br>
            <a:r>
              <a:rPr lang="en-ZA" dirty="0">
                <a:solidFill>
                  <a:schemeClr val="bg1"/>
                </a:solidFill>
              </a:rPr>
              <a:t>To run the tests: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In Visual Studio, open the </a:t>
            </a:r>
            <a:r>
              <a:rPr lang="en-ZA" b="1" dirty="0">
                <a:solidFill>
                  <a:schemeClr val="bg1"/>
                </a:solidFill>
              </a:rPr>
              <a:t>Test Explorer</a:t>
            </a:r>
            <a:r>
              <a:rPr lang="en-ZA" dirty="0">
                <a:solidFill>
                  <a:schemeClr val="bg1"/>
                </a:solidFill>
              </a:rPr>
              <a:t> (View → Test Explorer).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Click </a:t>
            </a:r>
            <a:r>
              <a:rPr lang="en-ZA" b="1" dirty="0">
                <a:solidFill>
                  <a:schemeClr val="bg1"/>
                </a:solidFill>
              </a:rPr>
              <a:t>Run All Tests</a:t>
            </a:r>
            <a:r>
              <a:rPr lang="en-ZA" dirty="0">
                <a:solidFill>
                  <a:schemeClr val="bg1"/>
                </a:solidFill>
              </a:rPr>
              <a:t> to execute all available test cases.</a:t>
            </a:r>
          </a:p>
        </p:txBody>
      </p:sp>
    </p:spTree>
    <p:extLst>
      <p:ext uri="{BB962C8B-B14F-4D97-AF65-F5344CB8AC3E}">
        <p14:creationId xmlns:p14="http://schemas.microsoft.com/office/powerpoint/2010/main" val="4156876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1F32B3-4633-A818-7ACD-55BDA38C1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9CA4F55-536F-6A65-6ADF-4B7C91A8F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0AA297E-39ED-58E6-AB30-D6F9515F0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GitHub Repo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934AB23-18EF-6970-C7E8-9FA7F9B06B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820" b="3820"/>
          <a:stretch/>
        </p:blipFill>
        <p:spPr>
          <a:xfrm>
            <a:off x="20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92B4444D-7AC3-C8B2-62B0-BF2DB13E2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1F898F8-DEC3-6BF9-C76D-1A6200360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30594EF-1D9C-81B1-EC63-FDE451764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C6D2A8-D968-3EDF-5D94-25A1DF271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48150" y="4669978"/>
            <a:ext cx="4269581" cy="1456502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Link:</a:t>
            </a:r>
          </a:p>
          <a:p>
            <a:r>
              <a:rPr lang="en-ZA" u="sng" dirty="0">
                <a:hlinkClick r:id="rId4"/>
              </a:rPr>
              <a:t>https://github.com/ST10085639/ST10085639-PROG6212-CMCS</a:t>
            </a:r>
            <a:endParaRPr lang="en-ZA" dirty="0"/>
          </a:p>
          <a:p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351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BBA05-6352-AD46-5BF6-17AFB9F87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65D52D1-9ECF-3850-F707-46B630B22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4C62C56-D863-199F-EC81-39260BB61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dirty="0">
                <a:solidFill>
                  <a:schemeClr val="bg1"/>
                </a:solidFill>
              </a:rPr>
              <a:t>GitHub Commits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322157AF-A10E-0E80-3D9B-FE57A1E5178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408" b="3408"/>
          <a:stretch/>
        </p:blipFill>
        <p:spPr>
          <a:xfrm>
            <a:off x="20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D25D7168-6E10-0B47-44DD-3C7BA6C47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C341871-02F4-9BAE-0EC3-54FCBBFD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7080A18-E933-F528-CF6E-1EA7A5C2D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26F1A8-C699-0A9A-2F3F-4A2E326AC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48150" y="4669978"/>
            <a:ext cx="4269581" cy="1456502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Link:</a:t>
            </a:r>
          </a:p>
          <a:p>
            <a:r>
              <a:rPr lang="en-ZA" u="sng" dirty="0">
                <a:hlinkClick r:id="rId4"/>
              </a:rPr>
              <a:t>https://github.com/ST10085639/ST10085639-PROG6212-CMCS</a:t>
            </a:r>
            <a:endParaRPr lang="en-ZA" dirty="0"/>
          </a:p>
          <a:p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215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77E15-EFF6-8053-BC72-25D03C4C6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4B87CC-A41D-EECA-E155-5BB89F28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818984"/>
            <a:ext cx="5036024" cy="317868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References: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🏠 </a:t>
            </a:r>
            <a:r>
              <a:rPr lang="en-US" sz="1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HomeController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Handle requests with controllers in ASP.NET Core MVC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17 June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2"/>
              </a:rPr>
              <a:t>https://learn.microsoft.com/en-us/aspnet/core/mvc/controllers/actions?view=aspnetcore-9.0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Error handling in ASP.NET Core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25 September 2025.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https://learn.microsoft.com/en-us/aspnet/core/fundamentals/error-handling?view=aspnetcore-9.0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Dependency injection in ASP.NET Core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18 September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4"/>
              </a:rPr>
              <a:t>https://learn.microsoft.com/en-us/aspnet/core/fundamentals/dependency-injection?view=aspnetcore-9.0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Routing in ASP.NET Core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18 September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5"/>
              </a:rPr>
              <a:t>https://learn.microsoft.com/en-us/aspnet/core/fundamentals/routing?view=aspnetcore-9.0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TutorialsTeacher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ASP.NET Core MVC Tutorial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6"/>
              </a:rPr>
              <a:t>https://www.tutorialsteacher.com/core/aspnet-core-mvc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943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FE2F5C-0216-DCD7-251C-63879D03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6E3FC1-A0FC-6A88-5C03-5E6AEF629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818984"/>
            <a:ext cx="5036024" cy="317868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  <a:spcAft>
                <a:spcPts val="800"/>
              </a:spcAft>
            </a:pP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References: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🧾 </a:t>
            </a:r>
            <a:r>
              <a:rPr lang="en-US" sz="1100" b="1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ClaimController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Microsoft Learn.</a:t>
            </a: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 2024. </a:t>
            </a:r>
            <a:r>
              <a:rPr lang="en-US" sz="1100" i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Model binding in ASP.NET Core MVC</a:t>
            </a: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, 19 July 2025. [Online].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  <a:hlinkClick r:id="rId2"/>
              </a:rPr>
              <a:t>https://learn.microsoft.com/en-us/aspnet/core/mvc/models/model-binding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Microsoft Learn.</a:t>
            </a: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 2024. </a:t>
            </a:r>
            <a:r>
              <a:rPr lang="en-US" sz="1100" i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File uploads in ASP.NET Core</a:t>
            </a: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, 27 September 2024. [Online].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  <a:hlinkClick r:id="rId3"/>
              </a:rPr>
              <a:t>https://learn.microsoft.com/en-us/aspnet/core/mvc/models/file-uploads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Microsoft Learn.</a:t>
            </a: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 2024. </a:t>
            </a:r>
            <a:r>
              <a:rPr lang="en-US" sz="1100" i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Entity Framework Core basics</a:t>
            </a: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, 12 November 2024. [Online].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  <a:hlinkClick r:id="rId4"/>
              </a:rPr>
              <a:t>https://learn.microsoft.com/en-us/ef/core/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Microsoft Learn.</a:t>
            </a: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 2024. </a:t>
            </a:r>
            <a:r>
              <a:rPr lang="en-US" sz="1100" i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Authorization and role management in ASP.NET Core</a:t>
            </a: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, 14 October 2024. [Online].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  <a:hlinkClick r:id="rId5"/>
              </a:rPr>
              <a:t>https://learn.microsoft.com/en-us/aspnet/core/security/authorization/roles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b="1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TutorialsTeacher</a:t>
            </a:r>
            <a:r>
              <a:rPr lang="en-US" sz="11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.</a:t>
            </a: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 2024. </a:t>
            </a:r>
            <a:r>
              <a:rPr lang="en-US" sz="1100" i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ASP.NET Core MVC CRUD Operations</a:t>
            </a: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, 2024. [Online].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  <a:hlinkClick r:id="rId6"/>
              </a:rPr>
              <a:t>https://www.tutorialsteacher.com/core/aspnet-core-crud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5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BD0875-8EE3-EC4A-FB46-50B0DC1DD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C2AB9BD-3E0F-42DA-F0B8-5E8192DCA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818984"/>
            <a:ext cx="5036024" cy="317868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References: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🔐 </a:t>
            </a:r>
            <a:r>
              <a:rPr lang="en-US" sz="1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AuthenticationController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Authentication and authorization in ASP.NET Core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14 February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2"/>
              </a:rPr>
              <a:t>https://learn.microsoft.com/en-us/aspnet/core/security/authentication/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Session and state management in ASP.NET Core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24 April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https://learn.microsoft.com/en-us/aspnet/core/fundamentals/app-state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validation in ASP.NET Core MVC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28 August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4"/>
              </a:rPr>
              <a:t>https://learn.microsoft.com/en-us/aspnet/core/mvc/models/validation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Razor Pages and MVC views in ASP.NET Core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17 July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5"/>
              </a:rPr>
              <a:t>https://learn.microsoft.com/en-us/aspnet/core/mvc/views/overview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TutorialsTeacher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ASP.NET Core Authentication Tutorial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6"/>
              </a:rPr>
              <a:t>https://www.tutorialsteacher.com/core/aspnet-core-authentication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4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13C32-792B-F347-C83D-3685F356E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33937D-0DCD-D3A3-2743-29E9243E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818984"/>
            <a:ext cx="5036024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References: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🧾 </a:t>
            </a:r>
            <a:r>
              <a:rPr lang="en-US" sz="1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HRController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Microsoft. 2022. ASP.NET MVC Controller Overview (C#), 11 July 2022. [Online]. 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 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2"/>
              </a:rPr>
              <a:t>https://learn.microsoft.com/en-us/aspnet/mvc/overview/older-versions-1/controllers-and-routing/aspnet-mvc-controllers-overview-cs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20 November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Microsoft. 2022. Understanding Models, Views, and Controllers (C#), 11 July 2022.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 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https://learn.microsoft.com/en-us/aspnet/mvc/overview/older-versions-1/overview/understanding-models-views-and-controllers-cs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20 November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Microsoft. 2025. Part 6, controller methods and views in ASP.NET Core, 2 March 2025.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 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4"/>
              </a:rPr>
              <a:t>https://learn.microsoft.com/en-us/aspnet/core/tutorials/first-mvc-app/controller-methods-views?view=aspnetcore-9.0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20 November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3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42586-223B-E14B-C6C3-4A89B9D4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1750E50-3C30-1568-79E6-C8F3C26A0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818984"/>
            <a:ext cx="5036024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References: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🗃 </a:t>
            </a:r>
            <a:r>
              <a:rPr lang="en-US" sz="1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ApplicationDbContext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in Data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DbContext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in Entity Framework Core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12 November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2"/>
              </a:rPr>
              <a:t>https://learn.microsoft.com/en-us/ef/core/dbcontext-configuration/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Configuring entity properties with the Fluent API in EF Core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28 March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https://learn.microsoft.com/en-us/ef/core/modeling/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TutorialsTeacher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ASP.NET Core EF Core Tutorial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4"/>
              </a:rPr>
              <a:t>https://www.tutorialsteacher.com/core/aspnet-core-ef-core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7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BF028-7737-D4BA-2D06-BAB53B31B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5" name="Rectangle 154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D3F1E64-07A6-E65D-8019-B34684747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818984"/>
            <a:ext cx="5036024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References: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⚙️ Program Class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ASP.NET Core application startup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12 December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2"/>
              </a:rPr>
              <a:t>https://learn.microsoft.com/en-us/aspnet/core/fundamentals/startup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Routing in ASP.NET Core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18 September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https://learn.microsoft.com/en-us/aspnet/core/fundamentals/routing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Session state in ASP.NET Core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24 April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4"/>
              </a:rPr>
              <a:t>https://learn.microsoft.com/en-us/aspnet/core/fundamentals/app-state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0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0A10F-8DC8-1E12-11D8-329018102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" name="Rectangle 173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333D862-FDA2-654C-65FF-B52E30A31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818984"/>
            <a:ext cx="5036024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References: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📑 Claims Class in Models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annotations in ASP.NET Core MVC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28 August 2025.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2"/>
              </a:rPr>
              <a:t>https://learn.microsoft.com/en-us/aspnet/core/mvc/models/validation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Working with </a:t>
            </a:r>
            <a:r>
              <a:rPr lang="en-US" sz="1100" i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DateTime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in C#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https://learn.microsoft.com/en-us/dotnet/api/system.datetime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C# properties and methods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14 November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4"/>
              </a:rPr>
              <a:t>https://learn.microsoft.com/en-us/dotnet/csharp/programming-guide/classes-and-structs/properties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6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4E62C6-068D-1BA5-DD78-FE22EBECE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3" name="Rectangle 192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D9E594-794A-7C5A-9BB9-DF7735B9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818984"/>
            <a:ext cx="5036024" cy="317868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References: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👤 Users Class in Models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annotations in ASP.NET Core MVC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28 August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2"/>
              </a:rPr>
              <a:t>https://learn.microsoft.com/en-us/aspnet/core/mvc/models/validation?view=aspnetcore-9.0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Regular expressions in .NET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18 July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https://learn.microsoft.com/en-us/dotnet/standard/base-types/regular-expression-language-quick-reference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TutorialsTeacher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ASP.NET Core MVC Model Validation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4"/>
              </a:rPr>
              <a:t>https://www.tutorialsteacher.com/core/aspnet-core-model-validation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Identity and security in ASP.NET Core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13 July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5"/>
              </a:rPr>
              <a:t>https://learn.microsoft.com/en-us/aspnet/core/security/authentication/identity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16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7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938A5-8221-BD84-D253-593A1007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1" name="Rectangle 230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2FD7F95-D633-7814-F2EE-6C3B93C64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78659"/>
            <a:ext cx="5036024" cy="617060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References: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💻 Views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2025.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Razor syntax reference for ASP.NET Core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27 August 2025.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2"/>
              </a:rPr>
              <a:t>https://learn.microsoft.com/en-us/aspnet/core/razor-pages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17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W3Schools.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CSS Styling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https://www.w3schools.com/css/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17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MDN Web Docs. 2025.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HTML input element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16 September 2025.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4"/>
              </a:rPr>
              <a:t>https://developer.mozilla.org/en-US/docs/Web/HTML/Element/input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17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MDN Web Docs. 2025.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HTML DOM element type property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10 April 2025.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5"/>
              </a:rPr>
              <a:t>https://developer.mozilla.org/en-US/docs/Web/API/HTMLInputElement/type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17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Font Awesome.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Font Awesome 6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6"/>
              </a:rPr>
              <a:t>https://fontawesome.com/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17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2025.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Handling errors in ASP.NET Core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25 September 2025.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7"/>
              </a:rPr>
              <a:t>https://learn.microsoft.com/en-us/aspnet/core/fundamentals/error-handling?view=aspnetcore-9.0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17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W3Schools.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CSS Buttons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8"/>
              </a:rPr>
              <a:t>https://www.w3schools.com/css/css3_buttons.asp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17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W3Schools. 2024. </a:t>
            </a:r>
            <a:r>
              <a:rPr lang="en-US" sz="11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CSS Card Layout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2024. [Online].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9"/>
              </a:rPr>
              <a:t>https://www.w3schools.com/howto/howto_css_cards.asp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17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Microsoft. 2024. Standard numeric and currency formatting, 22 October 2024. [Online]. Available at: 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10"/>
              </a:rPr>
              <a:t>https://learn.microsoft.com/dotnet/standard/base-types/standard-numeric-format-strings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20 November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Microsoft. 2024. Routing in ASP.NET Core MVC, 17 July 2024. [Online]. 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 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11"/>
              </a:rPr>
              <a:t>https://learn.microsoft.com/aspnet/core/mvc/controllers/routing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20 November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Microsoft. 2024. Globalization and localization, 2024. [Online]. 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 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12"/>
              </a:rPr>
              <a:t>https://learn.microsoft.com/dotnet/api/system.globalization.cultureinfo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20 September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Microsoft. 2024. Razor Pages and MVC views, 17 June 2024. [Online]. 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Available at: 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13"/>
              </a:rPr>
              <a:t>https://learn.microsoft.com/aspnet/core/mvc/views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[Accessed 20 September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0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00CFB-EF41-D79F-E05B-4F65B4925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1" name="Rectangle 230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-1"/>
            <a:ext cx="9169464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3"/>
            <a:ext cx="8829202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3"/>
            <a:ext cx="9175185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505509" y="212908"/>
            <a:ext cx="6861931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69287" y="1712598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5A58B2C-CC88-19CA-D20F-A79BE5153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3805" y="782491"/>
            <a:ext cx="5036024" cy="349475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2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References: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📑 Unit Testing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 Unit testing controller logic in ASP.NET Core, 17 July 2024. [Online]. 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2"/>
              </a:rPr>
              <a:t>https://learn.microsoft.com/en-us/aspnet/core/mvc/controllers/testing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[Accessed 18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2022. In-memory database provider - EF Core, 23 November 2022. [Online]. Available </a:t>
            </a:r>
            <a:r>
              <a:rPr lang="en-US" sz="1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at:</a:t>
            </a:r>
            <a:r>
              <a:rPr lang="en-US" sz="1100" u="sng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https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://learn.microsoft.com/</a:t>
            </a:r>
            <a:r>
              <a:rPr lang="en-US" sz="1100" u="sng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en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-us/</a:t>
            </a:r>
            <a:r>
              <a:rPr lang="en-US" sz="1100" u="sng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ef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/core/testing/in-memory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[Accessed 18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Sharma, M. 2023. Mastering Unit Testing in .NET 6: Build Reliable and Maintainable Applications with </a:t>
            </a:r>
            <a:r>
              <a:rPr lang="en-US" sz="1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xUnit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and </a:t>
            </a:r>
            <a:r>
              <a:rPr lang="en-US" sz="1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MSTest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 </a:t>
            </a:r>
            <a:r>
              <a:rPr lang="en-US" sz="1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Packt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Publishing, 2023. [Online]. 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4"/>
              </a:rPr>
              <a:t>https://www.packtpub.com/en-us/product/mastering-unit-testing-in-net-6-9781803241766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[Accessed 18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2022. In-memory database provider - EF Core, 23 November 2022. [Online]. 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3"/>
              </a:rPr>
              <a:t>https://learn.microsoft.com/en-us/ef/core/testing/in-memory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[Accessed 18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Microsoft Learn. 2024. Unit testing controller logic in ASP.NET Core, 17 July 2024. [Online]. 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2"/>
              </a:rPr>
              <a:t>https://learn.microsoft.com/en-us/aspnet/core/mvc/controllers/testing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[Accessed 18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MSDN. 2025. Unit testing in .NET with </a:t>
            </a:r>
            <a:r>
              <a:rPr lang="en-US" sz="11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MSTest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27 March 2025. [Online]. Available at: </a:t>
            </a:r>
            <a:r>
              <a:rPr lang="en-US" sz="1100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5"/>
              </a:rPr>
              <a:t>https://learn.microsoft.com/en-us/dotnet/core/testing/unit-testing-with-mstest</a:t>
            </a:r>
            <a: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[Accessed 18 October 2025].</a:t>
            </a: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1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4490110"/>
            <a:ext cx="9163282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5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3204</Words>
  <Application>Microsoft Office PowerPoint</Application>
  <PresentationFormat>On-screen Show (4:3)</PresentationFormat>
  <Paragraphs>82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Raeez Spence Student Number: ST10085639 </vt:lpstr>
      <vt:lpstr>Home Page</vt:lpstr>
      <vt:lpstr>Sign-Up Page</vt:lpstr>
      <vt:lpstr>Login Page</vt:lpstr>
      <vt:lpstr>Submit Claims Page</vt:lpstr>
      <vt:lpstr>Claim History Page</vt:lpstr>
      <vt:lpstr>Admin Dashboard Page</vt:lpstr>
      <vt:lpstr>HR Dashboard Page</vt:lpstr>
      <vt:lpstr>HR Invoice Page</vt:lpstr>
      <vt:lpstr>HR Invoice PDF</vt:lpstr>
      <vt:lpstr>Users SQL Table</vt:lpstr>
      <vt:lpstr>Claims SQL Table</vt:lpstr>
      <vt:lpstr>Unit Testing</vt:lpstr>
      <vt:lpstr>GitHub Repo</vt:lpstr>
      <vt:lpstr>GitHub Commits</vt:lpstr>
      <vt:lpstr>References: 🏠 HomeController Microsoft Learn. 2024. Handle requests with controllers in ASP.NET Core MVC, 17 June 2024. [Online]. Available at: https://learn.microsoft.com/en-us/aspnet/core/mvc/controllers/actions?view=aspnetcore-9.0 [Accessed 16 October 2025]. Microsoft Learn. 2024. Error handling in ASP.NET Core, 25 September 2025. [Online]. Available at: https://learn.microsoft.com/en-us/aspnet/core/fundamentals/error-handling?view=aspnetcore-9.0 [Accessed 16 October 2025]. Microsoft Learn. 2024. Dependency injection in ASP.NET Core, 18 September 2024. [Online]. Available at: https://learn.microsoft.com/en-us/aspnet/core/fundamentals/dependency-injection?view=aspnetcore-9.0 [Accessed 16 October 2025]. Microsoft Learn. 2024. Routing in ASP.NET Core, 18 September 2024. [Online]. Available at: https://learn.microsoft.com/en-us/aspnet/core/fundamentals/routing?view=aspnetcore-9.0 [Accessed 16 October 2025]. TutorialsTeacher. 2024. ASP.NET Core MVC Tutorial, 2024. [Online]. Available at: https://www.tutorialsteacher.com/core/aspnet-core-mvc [Accessed 16 October 2025].</vt:lpstr>
      <vt:lpstr>References: 🧾 ClaimController Microsoft Learn. 2024. Model binding in ASP.NET Core MVC, 19 July 2025. [Online]. Available at: https://learn.microsoft.com/en-us/aspnet/core/mvc/models/model-binding [Accessed 16 October 2025]. Microsoft Learn. 2024. File uploads in ASP.NET Core, 27 September 2024. [Online]. Available at: https://learn.microsoft.com/en-us/aspnet/core/mvc/models/file-uploads [Accessed 16 October 2025]. Microsoft Learn. 2024. Entity Framework Core basics, 12 November 2024. [Online]. Available at: https://learn.microsoft.com/en-us/ef/core/ [Accessed 16 October 2025]. Microsoft Learn. 2024. Authorization and role management in ASP.NET Core, 14 October 2024. [Online]. Available at: https://learn.microsoft.com/en-us/aspnet/core/security/authorization/roles [Accessed 16 October 2025]. TutorialsTeacher. 2024. ASP.NET Core MVC CRUD Operations, 2024. [Online]. Available at: https://www.tutorialsteacher.com/core/aspnet-core-crud [Accessed 16 October 2025]. </vt:lpstr>
      <vt:lpstr>References: 🔐 AuthenticationController Microsoft Learn. 2024. Authentication and authorization in ASP.NET Core, 14 February 2024. [Online]. Available at: https://learn.microsoft.com/en-us/aspnet/core/security/authentication/ [Accessed 16 October 2025]. Microsoft Learn. 2024. Session and state management in ASP.NET Core, 24 April 2024. [Online]. Available at: https://learn.microsoft.com/en-us/aspnet/core/fundamentals/app-state [Accessed 16 October 2025]. Microsoft Learn. 2024. Model validation in ASP.NET Core MVC, 28 August 2024. [Online]. Available at: https://learn.microsoft.com/en-us/aspnet/core/mvc/models/validation [Accessed 16 October 2025]. Microsoft Learn. 2024. Razor Pages and MVC views in ASP.NET Core, 17 July 2024. [Online]. Available at: https://learn.microsoft.com/en-us/aspnet/core/mvc/views/overview [Accessed 16 October 2025]. TutorialsTeacher. 2024. ASP.NET Core Authentication Tutorial, 2024. [Online]. Available at: https://www.tutorialsteacher.com/core/aspnet-core-authentication [Accessed 16 October 2025].  </vt:lpstr>
      <vt:lpstr>References: 🧾 HRController Microsoft. 2022. ASP.NET MVC Controller Overview (C#), 11 July 2022. [Online].  Available at: https://learn.microsoft.com/en-us/aspnet/mvc/overview/older-versions-1/controllers-and-routing/aspnet-mvc-controllers-overview-cs [Accessed 20 November 2025]. Microsoft. 2022. Understanding Models, Views, and Controllers (C#), 11 July 2022. [Online]. Available at: https://learn.microsoft.com/en-us/aspnet/mvc/overview/older-versions-1/overview/understanding-models-views-and-controllers-cs [Accessed 20 November 2025]. Microsoft. 2025. Part 6, controller methods and views in ASP.NET Core, 2 March 2025. [Online]. Available at: https://learn.microsoft.com/en-us/aspnet/core/tutorials/first-mvc-app/controller-methods-views?view=aspnetcore-9.0 [Accessed 20 November 2025].   </vt:lpstr>
      <vt:lpstr>References: 🗃 ApplicationDbContext in Data Microsoft Learn. 2024. DbContext in Entity Framework Core, 12 November 2024. [Online]. Available at: https://learn.microsoft.com/en-us/ef/core/dbcontext-configuration/ [Accessed 16 October 2025]. Microsoft Learn. 2024. Configuring entity properties with the Fluent API in EF Core, 28 March 2024. [Online]. Available at: https://learn.microsoft.com/en-us/ef/core/modeling/ [Accessed 16 October 2025]. TutorialsTeacher. 2024. ASP.NET Core EF Core Tutorial, 2024. [Online]. Available at: https://www.tutorialsteacher.com/core/aspnet-core-ef-core [Accessed 16 October 2025].   </vt:lpstr>
      <vt:lpstr>References: ⚙️ Program Class Microsoft Learn. 2024. ASP.NET Core application startup, 12 December 2024. [Online]. Available at: https://learn.microsoft.com/en-us/aspnet/core/fundamentals/startup [Accessed 16 October 2025]. Microsoft Learn. 2024. Routing in ASP.NET Core, 18 September 2024. [Online]. Available at: https://learn.microsoft.com/en-us/aspnet/core/fundamentals/routing [Accessed 16 October 2025]. Microsoft Learn. 2024. Session state in ASP.NET Core, 24 April 2024. [Online]. Available at: https://learn.microsoft.com/en-us/aspnet/core/fundamentals/app-state [Accessed 16 October 2025].    </vt:lpstr>
      <vt:lpstr>References: 📑 Claims Class in Models Microsoft Learn. 2024. Data annotations in ASP.NET Core MVC, 28 August 2025. [Online]. Available at: https://learn.microsoft.com/en-us/aspnet/core/mvc/models/validation [Accessed 16 October 2025]. Microsoft Learn. 2024. Working with DateTime in C#, 2024. [Online]. Available at: https://learn.microsoft.com/en-us/dotnet/api/system.datetime [Accessed 16 October 2025]. Microsoft Learn. 2024. C# properties and methods, 14 November 2024. [Online]. Available at: https://learn.microsoft.com/en-us/dotnet/csharp/programming-guide/classes-and-structs/properties [Accessed 16 October 2025].     </vt:lpstr>
      <vt:lpstr>References: 👤 Users Class in Models Microsoft. 2024. Data annotations in ASP.NET Core MVC, 28 August 2024. [Online]. Available at: https://learn.microsoft.com/en-us/aspnet/core/mvc/models/validation?view=aspnetcore-9.0 [Accessed 16 October 2025]. Microsoft. 2024. Regular expressions in .NET, 18 July 2024. [Online]. Available at: https://learn.microsoft.com/en-us/dotnet/standard/base-types/regular-expression-language-quick-reference [Accessed 16 October 2025]. TutorialsTeacher. 2024. ASP.NET Core MVC Model Validation, 2024. [Online]. Available at: https://www.tutorialsteacher.com/core/aspnet-core-model-validation [Accessed 16 October 2025]. Microsoft. 2024. Identity and security in ASP.NET Core, 13 July 2024. [Online]. Available at: https://learn.microsoft.com/en-us/aspnet/core/security/authentication/identity [Accessed 16 October 2025].     </vt:lpstr>
      <vt:lpstr>References: 💻 Views Microsoft Learn. 2025. Razor syntax reference for ASP.NET Core, 27 August 2025. [Online]. Available at: https://learn.microsoft.com/en-us/aspnet/core/razor-pages [Accessed 17 October 2025]. W3Schools. 2024. CSS Styling, 2024. [Online]. Available at: https://www.w3schools.com/css/ [Accessed 17 October 2025]. MDN Web Docs. 2025. HTML input element, 16 September 2025. [Online]. Available at: https://developer.mozilla.org/en-US/docs/Web/HTML/Element/input [Accessed 17 October 2025]. MDN Web Docs. 2025. HTML DOM element type property, 10 April 2025. [Online]. Available at: https://developer.mozilla.org/en-US/docs/Web/API/HTMLInputElement/type [Accessed 17 October 2025]. Font Awesome. 2024. Font Awesome 6, 2024. [Online]. Available at: https://fontawesome.com/ [Accessed 17 October 2025]. Microsoft Learn. 2025. Handling errors in ASP.NET Core, 25 September 2025. [Online]. Available at: https://learn.microsoft.com/en-us/aspnet/core/fundamentals/error-handling?view=aspnetcore-9.0 [Accessed 17 October 2025]. W3Schools. 2024. CSS Buttons, 2024. [Online]. Available at: https://www.w3schools.com/css/css3_buttons.asp [Accessed 17 October 2025]. W3Schools. 2024. CSS Card Layout, 2024. [Online]. Available at: https://www.w3schools.com/howto/howto_css_cards.asp [Accessed 17 October 2025]. Microsoft. 2024. Standard numeric and currency formatting, 22 October 2024. [Online]. Available at: https://learn.microsoft.com/dotnet/standard/base-types/standard-numeric-format-strings [Accessed 20 November 2025]. Microsoft. 2024. Routing in ASP.NET Core MVC, 17 July 2024. [Online].  Available at: https://learn.microsoft.com/aspnet/core/mvc/controllers/routing [Accessed 20 November 2025]. Microsoft. 2024. Globalization and localization, 2024. [Online].  Available at: https://learn.microsoft.com/dotnet/api/system.globalization.cultureinfo [Accessed 20 September 2025]. Microsoft. 2024. Razor Pages and MVC views, 17 June 2024. [Online].  Available at: https://learn.microsoft.com/aspnet/core/mvc/views [Accessed 20 September 2025].   </vt:lpstr>
      <vt:lpstr>References: 📑 Unit Testing Microsoft Learn. 2024. Unit testing controller logic in ASP.NET Core, 17 July 2024. [Online]. Available at: https://learn.microsoft.com/en-us/aspnet/core/mvc/controllers/testing [Accessed 18 October 2025]. Microsoft Learn. 2022. In-memory database provider - EF Core, 23 November 2022. [Online]. Available at:https://learn.microsoft.com/en-us/ef/core/testing/in-memory [Accessed 18 October 2025]. Sharma, M. 2023. Mastering Unit Testing in .NET 6: Build Reliable and Maintainable Applications with xUnit and MSTest. Packt Publishing, 2023. [Online]. Available at: https://www.packtpub.com/en-us/product/mastering-unit-testing-in-net-6-9781803241766 [Accessed 18 October 2025]. Microsoft Learn. 2022. In-memory database provider - EF Core, 23 November 2022. [Online]. Available at: https://learn.microsoft.com/en-us/ef/core/testing/in-memory [Accessed 18 October 2025]. Microsoft Learn. 2024. Unit testing controller logic in ASP.NET Core, 17 July 2024. [Online]. Available at: https://learn.microsoft.com/en-us/aspnet/core/mvc/controllers/testing [Accessed 18 October 2025]. MSDN. 2025. Unit testing in .NET with MSTest, 27 March 2025. [Online]. Available at: https://learn.microsoft.com/en-us/dotnet/core/testing/unit-testing-with-mstest [Accessed 18 October 2025]. 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Yachin Gona Puckreesamy</cp:lastModifiedBy>
  <cp:revision>3</cp:revision>
  <dcterms:created xsi:type="dcterms:W3CDTF">2013-01-27T09:14:16Z</dcterms:created>
  <dcterms:modified xsi:type="dcterms:W3CDTF">2025-11-20T17:50:12Z</dcterms:modified>
  <cp:category/>
</cp:coreProperties>
</file>